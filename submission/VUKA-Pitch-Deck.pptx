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Vuka is isiZulu for wake up. It is also the four layers: VIGIL the person, UMOJA the street, KHAYA the property, ANCHOR the record. Open with the coercion problem immediately, do not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personal story here — the uncle at the gate, the friend forced into a car. Then land the line: not one of them could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the claims data: it was analysed under a prior engagement, it is not in the public repo, and the shipped risk layer runs on SAPS public data. Do not overstate ownership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as a sentence: VIGIL wakes for one person, KHAYA watches one property, UMOJA connects a street, ANCHOR publishes what all three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R1.30 line slowly. Because we batch every household into one hourly root it is a FIXED cost. At a hundred homes or a hundred thousand it is the same number. Rivals will be explaining gas fees. Also: we chose OpenTimestamps over a permissioned chain because in a dispute between the insurer, the security company and us, those three would be the validators (ADR-0021).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us in a blockchain bucket. Others will tokenise something. We refused four blockchain features because our own accepted ADRs forbid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say anything after this.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1874520"/>
            <a:ext cx="2651760" cy="2651760"/>
          </a:xfrm>
          <a:prstGeom prst="ellipse">
            <a:avLst/>
          </a:prstGeom>
          <a:solidFill>
            <a:srgbClr val="E9A23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2423160"/>
            <a:ext cx="1554480" cy="1554480"/>
          </a:xfrm>
          <a:prstGeom prst="ellipse">
            <a:avLst/>
          </a:prstGeom>
          <a:solidFill>
            <a:srgbClr val="E9A23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288036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24128"/>
            <a:ext cx="1828800" cy="91440"/>
          </a:xfrm>
          <a:prstGeom prst="rect">
            <a:avLst/>
          </a:prstGeom>
          <a:solidFill>
            <a:srgbClr val="2F7AD6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1024128"/>
            <a:ext cx="1828800" cy="91440"/>
          </a:xfrm>
          <a:prstGeom prst="rect">
            <a:avLst/>
          </a:prstGeom>
          <a:solidFill>
            <a:srgbClr val="21B573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1024128"/>
            <a:ext cx="1828800" cy="91440"/>
          </a:xfrm>
          <a:prstGeom prst="rect">
            <a:avLst/>
          </a:prstGeom>
          <a:solidFill>
            <a:srgbClr val="EA6A25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024128"/>
            <a:ext cx="1828800" cy="91440"/>
          </a:xfrm>
          <a:prstGeom prst="rect">
            <a:avLst/>
          </a:prstGeom>
          <a:solidFill>
            <a:srgbClr val="4B32A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167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SONAR  ·  JOHANNESBURG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00784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300" kern="0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VUKA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 alone.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360273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have to ask.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4988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A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</a:t>
            </a:r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the person      </a:t>
            </a:r>
            <a:pPr indent="0" marL="0">
              <a:buNone/>
            </a:pPr>
            <a:r>
              <a:rPr lang="en-US" sz="1250" b="1" dirty="0">
                <a:solidFill>
                  <a:srgbClr val="4FD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UMOJA</a:t>
            </a:r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the street      </a:t>
            </a:r>
            <a:pPr indent="0" marL="0">
              <a:buNone/>
            </a:pPr>
            <a:r>
              <a:rPr lang="en-US" sz="1250" b="1" dirty="0">
                <a:solidFill>
                  <a:srgbClr val="F5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KHAYA</a:t>
            </a:r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the property      </a:t>
            </a:r>
            <a:pPr indent="0" marL="0">
              <a:buNone/>
            </a:pPr>
            <a:r>
              <a:rPr lang="en-US" sz="1250" b="1" dirty="0">
                <a:solidFill>
                  <a:srgbClr val="9B8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the record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9011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 you can verify.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Geekulcha Annual Hackathon 2026  ·  Blockchain for Impact Use  ·  Sector: Safety  ·  Theme: Build for 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section the brief asks for, in the order it asks.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084832"/>
            <a:ext cx="384048" cy="384048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24" dirty="0"/>
          </a:p>
        </p:txBody>
      </p:sp>
      <p:sp>
        <p:nvSpPr>
          <p:cNvPr id="15" name="Text 13"/>
          <p:cNvSpPr/>
          <p:nvPr/>
        </p:nvSpPr>
        <p:spPr>
          <a:xfrm>
            <a:off x="1335024" y="1993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48056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35024" y="23591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exactly, and the evidence it is real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810512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2084832"/>
            <a:ext cx="384048" cy="384048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24" dirty="0"/>
          </a:p>
        </p:txBody>
      </p:sp>
      <p:sp>
        <p:nvSpPr>
          <p:cNvPr id="21" name="Text 19"/>
          <p:cNvSpPr/>
          <p:nvPr/>
        </p:nvSpPr>
        <p:spPr>
          <a:xfrm>
            <a:off x="7004304" y="1993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14984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7–9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04304" y="23591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and the one property no rival has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127248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3401568"/>
            <a:ext cx="384048" cy="384048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24" dirty="0"/>
          </a:p>
        </p:txBody>
      </p:sp>
      <p:sp>
        <p:nvSpPr>
          <p:cNvPr id="27" name="Text 25"/>
          <p:cNvSpPr/>
          <p:nvPr/>
        </p:nvSpPr>
        <p:spPr>
          <a:xfrm>
            <a:off x="1335024" y="3310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readiness level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480560" y="3328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35024" y="3675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TRL 5, with what caps it there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3127248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55664" y="3401568"/>
            <a:ext cx="384048" cy="384048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24" dirty="0"/>
          </a:p>
        </p:txBody>
      </p:sp>
      <p:sp>
        <p:nvSpPr>
          <p:cNvPr id="33" name="Text 31"/>
          <p:cNvSpPr/>
          <p:nvPr/>
        </p:nvSpPr>
        <p:spPr>
          <a:xfrm>
            <a:off x="7004304" y="3310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Technological architecture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149840" y="3328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11–16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04304" y="3675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pipeline, trust boundary, chain, security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443984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" y="4718304"/>
            <a:ext cx="384048" cy="384048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24" dirty="0"/>
          </a:p>
        </p:txBody>
      </p:sp>
      <p:sp>
        <p:nvSpPr>
          <p:cNvPr id="39" name="Text 37"/>
          <p:cNvSpPr/>
          <p:nvPr/>
        </p:nvSpPr>
        <p:spPr>
          <a:xfrm>
            <a:off x="1335024" y="46268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 story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4480560" y="4645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17–18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335024" y="49926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member’s journey — and the subject’s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4443984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55664" y="4718304"/>
            <a:ext cx="384048" cy="384048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55664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24" dirty="0"/>
          </a:p>
        </p:txBody>
      </p:sp>
      <p:sp>
        <p:nvSpPr>
          <p:cNvPr id="45" name="Text 43"/>
          <p:cNvSpPr/>
          <p:nvPr/>
        </p:nvSpPr>
        <p:spPr>
          <a:xfrm>
            <a:off x="7004304" y="46268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strategy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10149840" y="4645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19–21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04304" y="49926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unit economics, sustainability, impact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" y="58521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B1220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599846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a real user trust and use this?”  </a:t>
            </a:r>
            <a:pPr indent="0" marL="0">
              <a:buNone/>
            </a:pPr>
            <a:r>
              <a:rPr lang="en-US" sz="13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is not that they should trust it. It is that they do not have to — they can check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1 OF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315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open a bank account here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installing the app.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all of us now carry the vault and the key in the same pocket — secured by a face or a finger that can be taken by force.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6858000" cy="2286000"/>
          </a:xfrm>
          <a:prstGeom prst="roundRect">
            <a:avLst>
              <a:gd name="adj" fmla="val 2400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21868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Criminals adapted before the banks did.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361188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robbery is no longer the wallet. It is: unlock the phone, open the app, transfer, then drive to an ATM for the daily limit.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performs the transaction. Every record the bank holds says they authorised it — their face, their finger, their own device.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3017520"/>
            <a:ext cx="3840480" cy="2286000"/>
          </a:xfrm>
          <a:prstGeom prst="roundRect">
            <a:avLst>
              <a:gd name="adj" fmla="val 2400"/>
            </a:avLst>
          </a:prstGeom>
          <a:solidFill>
            <a:srgbClr val="1E1418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3218688"/>
            <a:ext cx="347472" cy="347472"/>
          </a:xfrm>
          <a:prstGeom prst="ellipse">
            <a:avLst/>
          </a:prstGeom>
          <a:solidFill>
            <a:srgbClr val="E5484D"/>
          </a:solidFill>
          <a:ln w="6350">
            <a:solidFill>
              <a:srgbClr val="E548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36" dirty="0"/>
          </a:p>
        </p:txBody>
      </p:sp>
      <p:sp>
        <p:nvSpPr>
          <p:cNvPr id="19" name="Text 17"/>
          <p:cNvSpPr/>
          <p:nvPr/>
        </p:nvSpPr>
        <p:spPr>
          <a:xfrm>
            <a:off x="8065008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in a coerced robbery can reach for a phone and ask for help.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65008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someone call for help” was solved decades ago. All of it needs a free hand and a moment of privacy. Coercion removes both.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personal. A family member of this team was stopped at his own gate and told to unlock his phone. He got away because a neighbour happened to be looking.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2 OF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failures. All the same shape.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1847088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121408"/>
            <a:ext cx="402336" cy="402336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8" dirty="0"/>
          </a:p>
        </p:txBody>
      </p:sp>
      <p:sp>
        <p:nvSpPr>
          <p:cNvPr id="15" name="Text 13"/>
          <p:cNvSpPr/>
          <p:nvPr/>
        </p:nvSpPr>
        <p:spPr>
          <a:xfrm>
            <a:off x="1389888" y="21031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requires a free hand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89888" y="2523744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buttons, apps, speed dials — every one needs a hand and privacy. Nothing on the market serves the person who cannot ask.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847088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21408"/>
            <a:ext cx="402336" cy="402336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8" dirty="0"/>
          </a:p>
        </p:txBody>
      </p:sp>
      <p:sp>
        <p:nvSpPr>
          <p:cNvPr id="20" name="Text 18"/>
          <p:cNvSpPr/>
          <p:nvPr/>
        </p:nvSpPr>
        <p:spPr>
          <a:xfrm>
            <a:off x="7059168" y="21031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Alarms sense motion, not people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059168" y="2523744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mounted high enough to ignore the dog is high enough for a person to crawl under — and cannot tell them apart anyway. So people stop arming 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86784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261104"/>
            <a:ext cx="402336" cy="402336"/>
          </a:xfrm>
          <a:prstGeom prst="ellipse">
            <a:avLst/>
          </a:prstGeom>
          <a:solidFill>
            <a:srgbClr val="E5484D"/>
          </a:solidFill>
          <a:ln w="6350">
            <a:solidFill>
              <a:srgbClr val="E54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8" dirty="0"/>
          </a:p>
        </p:txBody>
      </p:sp>
      <p:sp>
        <p:nvSpPr>
          <p:cNvPr id="25" name="Text 23"/>
          <p:cNvSpPr/>
          <p:nvPr/>
        </p:nvSpPr>
        <p:spPr>
          <a:xfrm>
            <a:off x="1389888" y="424281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watches the watchers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89888" y="46634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networks decide who is suspicious with no record a resident can inspect. The insider is the unmodelled threat across the whole category.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3986784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4261104"/>
            <a:ext cx="402336" cy="402336"/>
          </a:xfrm>
          <a:prstGeom prst="ellipse">
            <a:avLst/>
          </a:prstGeom>
          <a:solidFill>
            <a:srgbClr val="E5484D"/>
          </a:solidFill>
          <a:ln w="6350">
            <a:solidFill>
              <a:srgbClr val="E548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8" dirty="0"/>
          </a:p>
        </p:txBody>
      </p:sp>
      <p:sp>
        <p:nvSpPr>
          <p:cNvPr id="30" name="Text 28"/>
          <p:cNvSpPr/>
          <p:nvPr/>
        </p:nvSpPr>
        <p:spPr>
          <a:xfrm>
            <a:off x="7059168" y="424281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Whoever owns the log wins the dispute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059168" y="46634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coerced transfer, a jammed remote, an argument over response time. The party holding the record has money riding on the outcome.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case the harmed party is the one who has to argue — against a file they cannot see.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3 OF 4 · QUANTIFIED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315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validated on real records,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 a market-size slide.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15,712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48640" y="2935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RECORDS CLEANED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233172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678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200400" y="2935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PRECINCTS JOINED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52160" y="233172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709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852160" y="2935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SUBURBS GEOCODED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03920" y="233172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503920" y="2935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 COVERED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1,296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48640" y="4398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IN THE 00:00 HOUR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0" y="379476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200400" y="4398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05:00 TROUGH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52160" y="379476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680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852160" y="4398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HIJACKINGS IN THE SET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503920" y="379476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18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8503920" y="4398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TOWNS SAPS COVERS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285232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here is concentrated in time and in place.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what makes it targetable — and it is why an 11–15 minute patrol dwell at the right hex at the right hour outperforms driving around all night.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SAPS quarterly crime statistics (public domain, 2025–2026 Q4) · an insurer claims dataset analysed under a prior engagement, not redistributed — the public repository is re-based on SAPS open data only.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4 OF 4 · IDENTIFIED USERS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users. Each one already pays for a worse version of this.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2615184" cy="3931920"/>
          </a:xfrm>
          <a:prstGeom prst="roundRect">
            <a:avLst>
              <a:gd name="adj" fmla="val 2098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810512"/>
            <a:ext cx="2615184" cy="82296"/>
          </a:xfrm>
          <a:prstGeom prst="rect">
            <a:avLst/>
          </a:prstGeom>
          <a:solidFill>
            <a:srgbClr val="2F7AD6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" y="23225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Nomsa, 34, Tembisa → Midrand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" y="2871216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Android, prepaid data, drives home after dark. Owns a panic app she has never opened.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8096" y="4315968"/>
            <a:ext cx="2194560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44398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help that starts without her hands.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46704" y="1810512"/>
            <a:ext cx="2615184" cy="3931920"/>
          </a:xfrm>
          <a:prstGeom prst="roundRect">
            <a:avLst>
              <a:gd name="adj" fmla="val 2098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46704" y="1810512"/>
            <a:ext cx="2615184" cy="82296"/>
          </a:xfrm>
          <a:prstGeom prst="rect">
            <a:avLst/>
          </a:prstGeom>
          <a:solidFill>
            <a:srgbClr val="EA6A25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household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23225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on one street in Kempton Park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2871216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alarm they stopped arming because the dog sets it off. Pays R650/month for armed response.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66160" y="4315968"/>
            <a:ext cx="2194560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444398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sensor that can tell a person from a dog.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44768" y="1810512"/>
            <a:ext cx="2615184" cy="3931920"/>
          </a:xfrm>
          <a:prstGeom prst="roundRect">
            <a:avLst>
              <a:gd name="adj" fmla="val 2098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1810512"/>
            <a:ext cx="2615184" cy="82296"/>
          </a:xfrm>
          <a:prstGeom prst="rect">
            <a:avLst/>
          </a:prstGeom>
          <a:solidFill>
            <a:srgbClr val="21B573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room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64224" y="23225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 security company, 40 vehicles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4224" y="2871216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is the largest controllable cost. Response-time disputes are settled by their own log.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64224" y="4315968"/>
            <a:ext cx="2194560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444398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record the customer can check.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42832" y="1810512"/>
            <a:ext cx="2615184" cy="3931920"/>
          </a:xfrm>
          <a:prstGeom prst="roundRect">
            <a:avLst>
              <a:gd name="adj" fmla="val 2098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42832" y="1810512"/>
            <a:ext cx="2615184" cy="82296"/>
          </a:xfrm>
          <a:prstGeom prst="rect">
            <a:avLst/>
          </a:prstGeom>
          <a:solidFill>
            <a:srgbClr val="4B32A8"/>
          </a:solidFill>
          <a:ln/>
        </p:spPr>
      </p:sp>
      <p:sp>
        <p:nvSpPr>
          <p:cNvPr id="35" name="Text 33"/>
          <p:cNvSpPr/>
          <p:nvPr/>
        </p:nvSpPr>
        <p:spPr>
          <a:xfrm>
            <a:off x="9162288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subject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62288" y="23225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3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a camera saw — including the innocent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62288" y="2871216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way to learn what was recorded about them, or to have it removed.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62288" y="4315968"/>
            <a:ext cx="2194560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62288" y="444398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their own file, and a delete that holds.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870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7F1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user is the one nobody builds for.  </a:t>
            </a:r>
            <a:pPr indent="0" marL="0">
              <a:buNone/>
            </a:pPr>
            <a:r>
              <a:rPr lang="en-US" sz="1300" dirty="0">
                <a:solidFill>
                  <a:srgbClr val="1A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network has subjects. None of them gives a subject a way to see, check, or delete their own record. That is the gap we build into.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· 1 OF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3152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VUKA means wake up. It also stands for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layers it is built from.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2084832"/>
            <a:ext cx="2615184" cy="3675888"/>
          </a:xfrm>
          <a:prstGeom prst="roundRect">
            <a:avLst>
              <a:gd name="adj" fmla="val 2098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286000"/>
            <a:ext cx="457200" cy="457200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35024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5024" y="25511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VIJ-il · Latin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6384" y="2889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F7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6384" y="32004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senses on the phone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Phone-to-car link breaking = hijack signal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duress PIN, unlocks normally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offline, screen off, no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" y="4956048"/>
            <a:ext cx="2139696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5065776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that starts without her hands.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46704" y="2084832"/>
            <a:ext cx="2615184" cy="3675888"/>
          </a:xfrm>
          <a:prstGeom prst="roundRect">
            <a:avLst>
              <a:gd name="adj" fmla="val 2098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84448" y="2286000"/>
            <a:ext cx="457200" cy="457200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33088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UMOJA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33088" y="25511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oo-MOH-ja · Swahili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84448" y="2889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1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84448" y="32004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who belongs before who does not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counts only if unknown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never images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layer · patrol optimisation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84448" y="4956048"/>
            <a:ext cx="2139696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5065776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Whitelist before watchlist.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44768" y="2084832"/>
            <a:ext cx="2615184" cy="3675888"/>
          </a:xfrm>
          <a:prstGeom prst="roundRect">
            <a:avLst>
              <a:gd name="adj" fmla="val 2098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2286000"/>
            <a:ext cx="457200" cy="457200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31152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KHAYA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31152" y="25511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KY-ah · isiZulu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82512" y="2889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A6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82512" y="32004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 person from a dog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Glass-break + gunshot, two-stage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Deterrent siren when you are away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48–72h battery · LTE failover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82512" y="4956048"/>
            <a:ext cx="2139696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5065776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alarm you stop switching off.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942832" y="2084832"/>
            <a:ext cx="2615184" cy="3675888"/>
          </a:xfrm>
          <a:prstGeom prst="roundRect">
            <a:avLst>
              <a:gd name="adj" fmla="val 2098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0576" y="2286000"/>
            <a:ext cx="457200" cy="457200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057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29216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29216" y="25511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AN-ker · English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180576" y="2889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180576" y="32004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over every decision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root published publicly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signatures to whitelist or disarm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person can retrieve their file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80576" y="4956048"/>
            <a:ext cx="2139696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80576" y="5065776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Checkable by someone who distrusts us.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wakes. All wake.  ·  Person → property → street → record.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· 2 OF 3 · THE DIFFERENTIATOR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3152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safety network here asks you to trust it.</a:t>
            </a:r>
            <a:endParaRPr lang="en-US" sz="31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Ours can be checked instead.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on safety technology in South Africa is not accuracy. It is legitimacy. So every design decision is made to leave the system more checkable, not more capable.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864" cy="457200"/>
          </a:xfrm>
          <a:prstGeom prst="rect">
            <a:avLst/>
          </a:prstGeom>
          <a:solidFill>
            <a:srgbClr val="2FBF87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8712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machine can never accuse you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" y="3163824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machine’s ceiling is watch_candidate. Only human_verify() with an operator ID sets flagged. Grep the repository — no other code path exists.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24160" y="28712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ADR-0002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54864" cy="457200"/>
          </a:xfrm>
          <a:prstGeom prst="rect">
            <a:avLst/>
          </a:prstGeom>
          <a:solidFill>
            <a:srgbClr val="2FBF87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529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operator cannot un-protect a street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68096" y="3822192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Whitelist, camera disarm, threshold change and deletion each need two independent signatures. Both are published.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424160" y="35295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ADR-0022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42816"/>
            <a:ext cx="54864" cy="457200"/>
          </a:xfrm>
          <a:prstGeom prst="rect">
            <a:avLst/>
          </a:prstGeom>
          <a:solidFill>
            <a:srgbClr val="2FBF8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187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hold your own file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8096" y="4480560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can retrieve every decision made about them, with a proof anyone can verify without asking us.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424160" y="41879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ADR-0023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01184"/>
            <a:ext cx="54864" cy="457200"/>
          </a:xfrm>
          <a:prstGeom prst="rect">
            <a:avLst/>
          </a:prstGeom>
          <a:solidFill>
            <a:srgbClr val="2FBF87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846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was public before the dispute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68096" y="513892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hourly root, 32 bytes, on a chain we do not control. Precedence — not immutability.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424160" y="4846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ADR-0021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559552"/>
            <a:ext cx="54864" cy="457200"/>
          </a:xfrm>
          <a:prstGeom prst="rect">
            <a:avLst/>
          </a:prstGeom>
          <a:solidFill>
            <a:srgbClr val="2FBF87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55046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failures are published too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68096" y="579729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forecast loses to a constant baseline and it is in the repository, on the honesty slide, and in this deck.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424160" y="55046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above is a decision record in the repository, dated, append-only, and superseded rather than edited.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· 3 OF 3 · CAPABILITY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proposing to build this. We shipped it in July.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33,600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ACROSS THE REPOSITORIES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212140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7472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212140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0" y="21214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1A8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326880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DATED BEFORE THIS BRIEF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529584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124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commit history is the capability statement.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22960" y="42245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VUKA and its predecessor were built in July 2026 for a different programme. The CLAUDE.md in that repository, dated July, already describes a two-layer architecture that shipped. ANCHOR is the third layer of a plan we published before this hackathon existed.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529584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712464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foreground service, on-device INT8 inference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WebSockets, migrations from day zero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15,712 records → 764 hotspot suburbs → 709 geocoded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harness, false-alarm budget, held-out backtest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evidence chain with a standalone verifier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alert render measured at p50 273 ms · p95 318 ms against a 2,000 ms budget — n = 10 runs, matched by sighting ID. A small sample, and we say so.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READINESS LEVEL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Assessed TRL 5, with the evidence — and with what caps it there.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asks for TRL 3. We are stating our actual level, because understating it would misrepresent the work — and misrepresentation is the one thing our honesty ledger forbids.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5A4520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773936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5A4520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3936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99232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5A4520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24528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5A4520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49824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00416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7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25712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25712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8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351008" y="2395728"/>
            <a:ext cx="1097280" cy="475488"/>
          </a:xfrm>
          <a:prstGeom prst="roundRect">
            <a:avLst>
              <a:gd name="adj" fmla="val 9615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51008" y="23957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9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49824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we are here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3392424"/>
            <a:ext cx="137160" cy="137160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33101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 running end to end across three machines over a public tunnel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235440" y="3310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137160" cy="137160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371246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measured under load in the intended topology, not simulated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235440" y="37124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4197096"/>
            <a:ext cx="137160" cy="137160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model shipped inside an installable Android build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23544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599432"/>
            <a:ext cx="137160" cy="137160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" y="4517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through the full pipeline: 15,712 records, 709 geocoded, 678 precincts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235440" y="45171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4–5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5001768"/>
            <a:ext cx="137160" cy="137160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" y="49194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tests, including security-property tests on the human gate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235440" y="4919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4–5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5404104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53218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hardware not fabricated — breadboard and bench only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235440" y="5321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at 5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48640" y="5806440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" y="572414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deployment in real households yet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235440" y="57241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at 5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us to TRL 6: a fabricated appliance in a real yard, for a season, with the false-alarm rate published whatever it says. That is the G-10 line on our public gap register.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ARCHITECTURE · 1 OF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boundary, and 32 bytes that leave.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93776" y="1755648"/>
            <a:ext cx="9326880" cy="3566160"/>
          </a:xfrm>
          <a:prstGeom prst="roundRect">
            <a:avLst>
              <a:gd name="adj" fmla="val 1026"/>
            </a:avLst>
          </a:prstGeom>
          <a:ln w="19050">
            <a:solidFill>
              <a:srgbClr val="DDE2E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0080" y="1810512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TRUST BOUNDARY — everything inside is data we hold and can be compelled to produce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" y="2157984"/>
            <a:ext cx="2240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 · the phone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523744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foreground service · LiteRT INT8 · mic, IMU, BT radio · fusion on device · duress PIN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" y="3639312"/>
            <a:ext cx="2240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6A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49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KHAYA · the appliance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4005072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person/animal · two-stage acoustics · 3-second ring buffer · local decision loop · siren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62656" y="3127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07792" y="341985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62656" y="4114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07792" y="44074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0" y="2157984"/>
            <a:ext cx="2788920" cy="2852928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21B5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UMOJA · the service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39312" y="2542032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WebSockets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graph, lazy decay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 score · conflict K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layer, 3-tier fallback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solve, fuel budget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39312" y="4078224"/>
            <a:ext cx="2487168" cy="786384"/>
          </a:xfrm>
          <a:prstGeom prst="roundRect">
            <a:avLst>
              <a:gd name="adj" fmla="val 4651"/>
            </a:avLst>
          </a:prstGeom>
          <a:solidFill>
            <a:srgbClr val="FDF0F0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415137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CEILING: watch_candidate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30752" y="437083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path sets flagged. Only human_verify() with an operator ID.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54496" y="3584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21424" y="2157984"/>
            <a:ext cx="2788920" cy="2852928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4B3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3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· the record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86016" y="2542032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prev-hash chain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per-party signing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Two-of-two on destructive acts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Merkle root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access + deletion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86016" y="4078224"/>
            <a:ext cx="2487168" cy="786384"/>
          </a:xfrm>
          <a:prstGeom prst="roundRect">
            <a:avLst>
              <a:gd name="adj" fmla="val 4651"/>
            </a:avLst>
          </a:prstGeom>
          <a:solidFill>
            <a:srgbClr val="EAF7F1"/>
          </a:solidFill>
          <a:ln w="12700">
            <a:solidFill>
              <a:srgbClr val="2FBF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77456" y="41513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77456" y="43708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human decision is signed, chained, and inside the next root.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92124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66376" y="3584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B/hr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515600" y="2157984"/>
            <a:ext cx="1097280" cy="2852928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19050">
            <a:solidFill>
              <a:srgbClr val="4B32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0" y="265176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wallet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5486400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0B1220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6144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states what it does when the layer above it disappears.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68680" y="58887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offline: VIGIL still fuses and still records · Service unreachable: KHAYA still sirens and queues · Chain unreachable: the hash chain still verifies, the root publishes late and says so. Stale data is marked stale, never blank and never invented.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ARCHITECTURE · 2 OF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incident, through the decision engine.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40280" y="1810512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physically independent channels — acoustic, motion, vehicle link. Independence is the point: never stack correlated models and call it confidence.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48640" y="23865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2386584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emits a calibrated probability. A raw softmax entering fusion is a correctness bug, not a style issue.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0280" y="2962656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= σ( prior + Σ wᵢ · logit(pᵢ) ).  Log-odds, not Dempster–Shafer — D–S misbehaves under high conflict and our worst cases are high-conflict.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548640" y="3538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GATE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0280" y="3538728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K rises when channels contradict. High K suppresses escalation and routes to verification. Disagreement is information, not noise.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40280" y="411480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L0→L3 with per-level hysteresis, so the state cannot chatter at a boundary. Every escalation carries a visible cancel window.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548640" y="479145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A1418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901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8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BOUNDARY — ADR-0002, accepted July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75504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machine’s ceiling is watch_candidate. No code path can set flagged — only human_verify() can, and it requires an operator ID. A biometric match is a lead for a human, never a verdict.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9253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→  human decides  →  signed record  →  hourly root published  →  suspicion decays at 0.5^(days/7)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end to end: p50 273 ms · p95 318 ms · budget 2,000 ms · n = 10.  This is also our statutory answer to POPIA s71 on automated decision making.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ARCHITECTURE · 3 OF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DDE2E8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DDE2E8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DDE2E8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crosses the boundary — and what never does.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949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DEVICE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CLOUD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ON CHAIN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048256"/>
            <a:ext cx="11064240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76272"/>
            <a:ext cx="11247120" cy="5303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128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4323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3-second ring buffer, discarded. Only the label survives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never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7797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/ plate images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9992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only — enforced in the vision layer, not in policy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94960" y="27797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27797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never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310128"/>
            <a:ext cx="11247120" cy="5303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3467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(vectors)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5661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re-identification. Retention TTL in the data layer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94960" y="3346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3346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0" y="3346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never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3913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1330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ledgers are permanent and correlatable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94960" y="3913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98080" y="3913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0" y="3913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never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443984"/>
            <a:ext cx="11247120" cy="5303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480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events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4700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hash. The payload stays in our database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94960" y="4480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0" y="4480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601200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hashed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50474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52669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 per hour, built server-side. A hash of a hash — the entire on-chain footprint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94960" y="5047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n/a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98080" y="5047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01200" y="5047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7F1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88873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you are putting biometrics on a blockchain?”  </a:t>
            </a:r>
            <a:pPr indent="0" marL="0">
              <a:buNone/>
            </a:pPr>
            <a:r>
              <a:rPr lang="en-US" sz="1300" dirty="0">
                <a:solidFill>
                  <a:srgbClr val="1A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We anchor a hash of a hash. Deleting a person’s data does not break the chain, because the chain never held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ARCHITECTURE · 4 OF 6 · BLOCKCHAIN FOR IMPACT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does not make records immutable.</a:t>
            </a:r>
            <a:endParaRPr lang="en-US" sz="2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proves they existed before you had a reason to lie.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6766560" cy="2286000"/>
          </a:xfrm>
          <a:prstGeom prst="roundRect">
            <a:avLst>
              <a:gd name="adj" fmla="val 2400"/>
            </a:avLst>
          </a:prstGeom>
          <a:solidFill>
            <a:srgbClr val="141F16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77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 database cannot make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249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22:41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920240" y="27249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duress signal is recorded on the phone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127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22:44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31272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leaves the account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35295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hourly root is published — the 22:41 event is inside 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later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920240" y="39319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disputes the transfer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2212848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377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bank’s records show a correctly authenticated, correctly authorised instruction.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306324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anchored record proves the duress signal existed three minutes earlier — and was public before anyone knew there would be a dispute.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627632" cy="512064"/>
          </a:xfrm>
          <a:prstGeom prst="roundRect">
            <a:avLst>
              <a:gd name="adj" fmla="val 8929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548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76272" y="475488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468880" y="4754880"/>
            <a:ext cx="1627632" cy="512064"/>
          </a:xfrm>
          <a:prstGeom prst="roundRect">
            <a:avLst>
              <a:gd name="adj" fmla="val 8929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7548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prev-hash chain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96512" y="475488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389120" y="4754880"/>
            <a:ext cx="1627632" cy="512064"/>
          </a:xfrm>
          <a:prstGeom prst="roundRect">
            <a:avLst>
              <a:gd name="adj" fmla="val 8929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7548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16752" y="475488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09360" y="4754880"/>
            <a:ext cx="1627632" cy="512064"/>
          </a:xfrm>
          <a:prstGeom prst="roundRect">
            <a:avLst>
              <a:gd name="adj" fmla="val 8929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7548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Merkle root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36992" y="475488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29600" y="4754880"/>
            <a:ext cx="1627632" cy="512064"/>
          </a:xfrm>
          <a:prstGeom prst="roundRect">
            <a:avLst>
              <a:gd name="adj" fmla="val 8929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47548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OpenTimestamps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57232" y="475488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149840" y="4754880"/>
            <a:ext cx="1627632" cy="512064"/>
          </a:xfrm>
          <a:prstGeom prst="roundRect">
            <a:avLst>
              <a:gd name="adj" fmla="val 8929"/>
            </a:avLst>
          </a:prstGeom>
          <a:solidFill>
            <a:srgbClr val="143026"/>
          </a:solidFill>
          <a:ln w="12700">
            <a:solidFill>
              <a:srgbClr val="2FBF8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49840" y="47548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verifies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553212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pPr indent="0" marL="0">
              <a:buNone/>
            </a:pPr>
            <a:r>
              <a:rPr lang="en-US" sz="14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548640" y="6135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CHAIN, PER HOUR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023360" y="5532120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R1.30</a:t>
            </a:r>
            <a:pPr indent="0" marL="0">
              <a:buNone/>
            </a:pPr>
            <a:r>
              <a:rPr lang="en-US" sz="14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800" dirty="0"/>
          </a:p>
        </p:txBody>
      </p:sp>
      <p:sp>
        <p:nvSpPr>
          <p:cNvPr id="45" name="Text 43"/>
          <p:cNvSpPr/>
          <p:nvPr/>
        </p:nvSpPr>
        <p:spPr>
          <a:xfrm>
            <a:off x="4023360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NETWORK — FIXED, NOT PER USER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229600" y="553212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8229600" y="6135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ON CHAIN, EVER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ARCHITECTURE · 5 OF 6 · SECURITY BY DESIGN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DDE2E8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DDE2E8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DDE2E8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worries about who a system puts on a watchlist.</a:t>
            </a:r>
            <a:endParaRPr lang="en-US" sz="2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dangerous power is who it takes off.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DF0F0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this by auditing our own 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334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factor_f1_recurrence(entity, is_whitelisted):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is_whitelisted: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   # exits immediately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529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whitelisted entity accumulates no suspicion at all — and one operator could add one with a single unwitnessed API call.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EAF7F1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04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— two of two, both published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an entity</a:t>
            </a:r>
            <a:endParaRPr lang="en-US" sz="12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Disarm a camera</a:t>
            </a:r>
            <a:endParaRPr lang="en-US" sz="12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fusion threshold</a:t>
            </a:r>
            <a:endParaRPr lang="en-US" sz="125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record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7856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attempt is itself an anchored event — including the one that fails.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137160" cy="137160"/>
          </a:xfrm>
          <a:prstGeom prst="ellipse">
            <a:avLst/>
          </a:prstGeom>
          <a:solidFill>
            <a:srgbClr val="21B57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988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model + abuse-case suite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4498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before the code, run in CI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4599432"/>
            <a:ext cx="137160" cy="137160"/>
          </a:xfrm>
          <a:prstGeom prst="ellipse">
            <a:avLst/>
          </a:prstGeom>
          <a:solidFill>
            <a:srgbClr val="21B573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4988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scanning, pre-commit and gate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38360" y="4498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 committed secrets and disclosed 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37160" cy="137160"/>
          </a:xfrm>
          <a:prstGeom prst="ellipse">
            <a:avLst/>
          </a:prstGeom>
          <a:solidFill>
            <a:srgbClr val="21B57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65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DAST · dependency scan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69080" y="50657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G5, 24 September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5166360"/>
            <a:ext cx="137160" cy="137160"/>
          </a:xfrm>
          <a:prstGeom prst="ellipse">
            <a:avLst/>
          </a:prstGeom>
          <a:solidFill>
            <a:srgbClr val="21B573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5065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POPIA: retention TTL, subject access, deletion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38360" y="50657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G3 — our own ADR recorded the gap first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who has been paid to un-protect a street cannot do it alone, and cannot do it quietly. No commercial camera network in this market defends against its own operators.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ARCHITECTURE · 6 OF 6 · DESIGN DISCIPLINE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blockchain features we designed — and rejected.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310896" cy="310896"/>
          </a:xfrm>
          <a:prstGeom prst="ellipse">
            <a:avLst/>
          </a:prstGeom>
          <a:solidFill>
            <a:srgbClr val="3A1A1E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on chain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931920" y="180136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relay is 318 ms measured. The fastest chain is seconds. Consensus in the alert path costs time and buys nothing.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10896" cy="310896"/>
          </a:xfrm>
          <a:prstGeom prst="ellipse">
            <a:avLst/>
          </a:prstGeom>
          <a:solidFill>
            <a:srgbClr val="3A1A1E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gate unlock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931920" y="271576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deciding alone to open someone’s home. Violates ADR-0002 — and our own glass-break log holds a 0.71-confidence detection that was wrong.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10896" cy="310896"/>
          </a:xfrm>
          <a:prstGeom prst="ellipse">
            <a:avLst/>
          </a:prstGeom>
          <a:solidFill>
            <a:srgbClr val="3A1A1E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First-responder bounties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931920" y="363016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the first vehicle to arrive creates an incentive to race to a possibly-false alarm. We do not engineer a violent encounter.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310896" cy="310896"/>
          </a:xfrm>
          <a:prstGeom prst="ellipse">
            <a:avLst/>
          </a:prstGeom>
          <a:solidFill>
            <a:srgbClr val="3A1A1E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tokens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931920" y="454456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with an audit log beats a chain on cost, speed and UX. Tokenising it would be decoration.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41F16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autonomy in perception. Zero autonomy in consequence. The system may decide what it is looking at. It may never decide what happens to a person.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STORY · 1 OF 2 · THE MEMBER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incident. One clock. Three pairs of hands.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207008" y="1929384"/>
            <a:ext cx="146304" cy="146304"/>
          </a:xfrm>
          <a:prstGeom prst="ellipse">
            <a:avLst/>
          </a:prstGeom>
          <a:solidFill>
            <a:srgbClr val="2F7A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280160" y="2075688"/>
            <a:ext cx="0" cy="420624"/>
          </a:xfrm>
          <a:prstGeom prst="line">
            <a:avLst/>
          </a:prstGeom>
          <a:noFill/>
          <a:ln w="15875">
            <a:solidFill>
              <a:srgbClr val="DD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83080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554480" y="1783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Nomsa’s phone loses its link to her car while the car is still moving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7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touches nothing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207008" y="2496312"/>
            <a:ext cx="146304" cy="146304"/>
          </a:xfrm>
          <a:prstGeom prst="ellipse">
            <a:avLst/>
          </a:prstGeom>
          <a:solidFill>
            <a:srgbClr val="2F7AD6"/>
          </a:solidFill>
          <a:ln/>
        </p:spPr>
      </p:sp>
      <p:sp>
        <p:nvSpPr>
          <p:cNvPr id="18" name="Shape 16"/>
          <p:cNvSpPr/>
          <p:nvPr/>
        </p:nvSpPr>
        <p:spPr>
          <a:xfrm>
            <a:off x="1280160" y="2642616"/>
            <a:ext cx="0" cy="420624"/>
          </a:xfrm>
          <a:prstGeom prst="line">
            <a:avLst/>
          </a:prstGeom>
          <a:noFill/>
          <a:ln w="15875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50008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554480" y="23500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channels agree. Context lifts it: dark, a road with history. Conflict K stays low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0" y="2350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7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crossed → L2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207008" y="3063240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0160" y="3209544"/>
            <a:ext cx="0" cy="420624"/>
          </a:xfrm>
          <a:prstGeom prst="line">
            <a:avLst/>
          </a:prstGeom>
          <a:noFill/>
          <a:ln w="15875">
            <a:solidFill>
              <a:srgbClr val="DD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916936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19:42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554480" y="29169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Guardian is notified. A countdown appears on her screen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0" y="29169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7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still stop this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207008" y="3630168"/>
            <a:ext cx="146304" cy="14630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280160" y="3776472"/>
            <a:ext cx="0" cy="420624"/>
          </a:xfrm>
          <a:prstGeom prst="line">
            <a:avLst/>
          </a:prstGeom>
          <a:noFill/>
          <a:ln w="15875">
            <a:solidFill>
              <a:srgbClr val="DD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83864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554480" y="34838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opens the queue. The state reads watch_candidate — visibly locked there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0" y="3483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cannot go further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207008" y="4197096"/>
            <a:ext cx="146304" cy="146304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33" name="Shape 31"/>
          <p:cNvSpPr/>
          <p:nvPr/>
        </p:nvSpPr>
        <p:spPr>
          <a:xfrm>
            <a:off x="1280160" y="4343400"/>
            <a:ext cx="0" cy="420624"/>
          </a:xfrm>
          <a:prstGeom prst="line">
            <a:avLst/>
          </a:prstGeom>
          <a:noFill/>
          <a:ln w="15875">
            <a:solidFill>
              <a:srgbClr val="DD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050792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19:44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554480" y="4050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dismisses it. A parking garage; the link dropped on the ramp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772400" y="4050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sent to police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207008" y="4764024"/>
            <a:ext cx="146304" cy="146304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38" name="Shape 36"/>
          <p:cNvSpPr/>
          <p:nvPr/>
        </p:nvSpPr>
        <p:spPr>
          <a:xfrm>
            <a:off x="1280160" y="4910328"/>
            <a:ext cx="0" cy="420624"/>
          </a:xfrm>
          <a:prstGeom prst="line">
            <a:avLst/>
          </a:prstGeom>
          <a:noFill/>
          <a:ln w="15875">
            <a:solidFill>
              <a:srgbClr val="DD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617720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554480" y="4617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dismissal is published inside the hourly root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772400" y="4617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207008" y="5330952"/>
            <a:ext cx="146304" cy="146304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184648"/>
            <a:ext cx="603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554480" y="51846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Nomsa opens her record and verifies the dismissal happened and has not been altered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772400" y="5184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can a regulator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B1220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594360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climax is 19:44 — the system decided not to accuse someone. 20:00 made that decision permanent.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STORY · 2 OF 2 · THE SUBJECT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2A3950"/>
          </a:solidFill>
          <a:ln w="6350">
            <a:solidFill>
              <a:srgbClr val="2A3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journey belongs to the person the cameras saw.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Thabo delivers on that street twice a week. He was never a member, never asked, never consented to anything. Every camera network in the country has a Thabo. None of them gives him this.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542032"/>
            <a:ext cx="365760" cy="365760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78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asks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24688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/v1/subjects/{id}/record — every decision ever made about him: seen, scored, verified, dismissed, whitelisted. With actor IDs and timestamps.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078992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checks it himself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340156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 carries the chain entries, the Merkle path and the anchor reference. He can verify it with a public OpenTimestamps client that has never heard of us.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07408"/>
            <a:ext cx="365760" cy="365760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078992" y="4352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asks for deletion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08960" y="4334256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/v1/subjects/{id}/data — the payload is removed. The hash stays, so the chain still verifies. Deletion does not become a way to erase the fact that a decision was made.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40096"/>
            <a:ext cx="365760" cy="365760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078992" y="5285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is forgotten anyway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108960" y="5266944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 decays at 0.5^(days/7) with nobody required to clear him. Most systems need a human to decide to release you. Ours decides on its own to stop watching.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704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41F16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99846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POPIA answer, and it is also the product. A person can hold their own file without asking our permission to see it.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 · 1 OF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through security companies, not against them.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166420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hold the customer, the monthly billing rail and the vehicles on the road. Competing means buying households one at a time. Partnering means one integration reaches thousands — and customer acquisition cost collapses.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395728"/>
            <a:ext cx="3493008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2596896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92" dirty="0"/>
          </a:p>
        </p:txBody>
      </p:sp>
      <p:sp>
        <p:nvSpPr>
          <p:cNvPr id="16" name="Text 14"/>
          <p:cNvSpPr/>
          <p:nvPr/>
        </p:nvSpPr>
        <p:spPr>
          <a:xfrm>
            <a:off x="1207008" y="2615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F7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" y="2944368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GKSS chapters and our own street. 20–50 honest installs. Publish the false-alarm rate whatever it says.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61104" y="2395728"/>
            <a:ext cx="3493008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2596896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92" dirty="0"/>
          </a:p>
        </p:txBody>
      </p:sp>
      <p:sp>
        <p:nvSpPr>
          <p:cNvPr id="21" name="Text 19"/>
          <p:cNvSpPr/>
          <p:nvPr/>
        </p:nvSpPr>
        <p:spPr>
          <a:xfrm>
            <a:off x="4919472" y="2615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F7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2944368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mid-size security company. Prove the fuel saving and provable response times on their own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73568" y="2395728"/>
            <a:ext cx="3493008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93024" y="2596896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92" dirty="0"/>
          </a:p>
        </p:txBody>
      </p:sp>
      <p:sp>
        <p:nvSpPr>
          <p:cNvPr id="26" name="Text 24"/>
          <p:cNvSpPr/>
          <p:nvPr/>
        </p:nvSpPr>
        <p:spPr>
          <a:xfrm>
            <a:off x="8631936" y="2615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1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93024" y="2944368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short-term insurer. Their premium discount acquires the customer — we pay no marketing rand.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694176"/>
            <a:ext cx="3493008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3895344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92" dirty="0"/>
          </a:p>
        </p:txBody>
      </p:sp>
      <p:sp>
        <p:nvSpPr>
          <p:cNvPr id="31" name="Text 29"/>
          <p:cNvSpPr/>
          <p:nvPr/>
        </p:nvSpPr>
        <p:spPr>
          <a:xfrm>
            <a:off x="1207008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1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" y="424281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Estates and body corporates. One committee decision covers 200+ homes.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61104" y="3694176"/>
            <a:ext cx="3493008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3895344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92" dirty="0"/>
          </a:p>
        </p:txBody>
      </p:sp>
      <p:sp>
        <p:nvSpPr>
          <p:cNvPr id="36" name="Text 34"/>
          <p:cNvSpPr/>
          <p:nvPr/>
        </p:nvSpPr>
        <p:spPr>
          <a:xfrm>
            <a:off x="4919472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B3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80560" y="424281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bank’s fraud and disputes team. A verifiable duress record is unavailable today at any price.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73568" y="3694176"/>
            <a:ext cx="3493008" cy="1133856"/>
          </a:xfrm>
          <a:prstGeom prst="roundRect">
            <a:avLst>
              <a:gd name="adj" fmla="val 4839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93024" y="3895344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3024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92" dirty="0"/>
          </a:p>
        </p:txBody>
      </p:sp>
      <p:sp>
        <p:nvSpPr>
          <p:cNvPr id="41" name="Text 39"/>
          <p:cNvSpPr/>
          <p:nvPr/>
        </p:nvSpPr>
        <p:spPr>
          <a:xfrm>
            <a:off x="8631936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B3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93024" y="424281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via Reboot Republic. Swap the crime dataset; the architecture ports.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5138928"/>
            <a:ext cx="11064240" cy="1133856"/>
          </a:xfrm>
          <a:prstGeom prst="roundRect">
            <a:avLst>
              <a:gd name="adj" fmla="val 4839"/>
            </a:avLst>
          </a:prstGeom>
          <a:solidFill>
            <a:srgbClr val="0B1220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2852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adoption is self-interested — nobody is asked to do us a favour.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68680" y="559612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 gets something that notices when they cannot reach a phone. The security company gets a lower fuel bill and proof it was fast when a customer says otherwise. The insurer gets evidenced claims. The estate gets a camera nobody can disable alone. The bank gets evidence that does not currently exist at any price.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 · 2 OF 3 · THE NUMBERS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blockchain that gets cheaper per user as you grow.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KHAYA home bundle · R299 / 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amortised (R3,000 ÷ 24)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R125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2670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anchor, per household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2670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054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operations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0540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474720"/>
            <a:ext cx="4846320" cy="0"/>
          </a:xfrm>
          <a:prstGeom prst="line">
            <a:avLst/>
          </a:prstGeom>
          <a:noFill/>
          <a:ln w="12700">
            <a:solidFill>
              <a:srgbClr val="2A3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0624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R137  ·  46%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39867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BOM R3,900, modelled at R3,000 at 1,000 units. Flagged as an estimate, not a quote.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73736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901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lines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286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company licence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18320" y="2286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R35 / subscriber / mo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26883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optimiser SaaS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0" y="26883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R12,000 / control room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30906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/ body corporate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18320" y="3090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R5,500 / estate / mo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3493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verified installation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18320" y="34930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 / member / mo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92240" y="38953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claim record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832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 / record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11064240" cy="1572768"/>
          </a:xfrm>
          <a:prstGeom prst="roundRect">
            <a:avLst>
              <a:gd name="adj" fmla="val 3488"/>
            </a:avLst>
          </a:prstGeom>
          <a:solidFill>
            <a:srgbClr val="141F16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736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R1.30 per month.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914400" y="53218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entire network.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937760" y="4754880"/>
            <a:ext cx="64922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anchors a month. Because every household is batched into one hourly root, it is a fixed cost — at a hundred homes or a hundred thousand, the same number.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blockchain products die on cost and UX. Ours has no wallet, no token, no per-user fee, and no personal data on chain.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figures marked as estimates in the business case are flagged there and here. None of them is a quote.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 · 3 OF 3 · SUSTAINABILITY AND IMPACT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keeps running after demo day — and how you would measure it.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548640" y="1773936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7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— why it survives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231136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cost is fixed, not per user — growth cannot break the unit economics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token, no wallet, no exchange listing — nothing to collapse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 and a tunnel; cloud is a flex, never the decision path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 core, public gap register — someone else can carry it if we stop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longevity: a claim may reach a court in ten years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773936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7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— the metrics we publish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per camera-week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241280" y="2286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2633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alert render, p95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241280" y="2633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2,000 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29809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liveness — hours with a root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0" y="29809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328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Dual-signature compliance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24128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3675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requests answered inside 30 days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241280" y="3675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8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61104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261104"/>
            <a:ext cx="2615184" cy="73152"/>
          </a:xfrm>
          <a:prstGeom prst="rect">
            <a:avLst/>
          </a:prstGeom>
          <a:solidFill>
            <a:srgbClr val="2F7AD6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425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7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· 8 Sep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Anchored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" y="49560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batching, Ed25519 signing, public anchor, verifier extended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46704" y="4261104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46704" y="4261104"/>
            <a:ext cx="2615184" cy="73152"/>
          </a:xfrm>
          <a:prstGeom prst="rect">
            <a:avLst/>
          </a:prstGeom>
          <a:solidFill>
            <a:srgbClr val="21B573"/>
          </a:solidFill>
          <a:ln/>
        </p:spPr>
      </p:sp>
      <p:sp>
        <p:nvSpPr>
          <p:cNvPr id="34" name="Text 32"/>
          <p:cNvSpPr/>
          <p:nvPr/>
        </p:nvSpPr>
        <p:spPr>
          <a:xfrm>
            <a:off x="3547872" y="4425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1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· 14 Sep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47872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547872" y="49560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Two-signature gates, subject access, deletion route — POPIA gap closed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44768" y="4261104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44768" y="4261104"/>
            <a:ext cx="2615184" cy="73152"/>
          </a:xfrm>
          <a:prstGeom prst="rect">
            <a:avLst/>
          </a:prstGeom>
          <a:solidFill>
            <a:srgbClr val="EA6A25"/>
          </a:solidFill>
          <a:ln/>
        </p:spPr>
      </p:sp>
      <p:sp>
        <p:nvSpPr>
          <p:cNvPr id="39" name="Text 37"/>
          <p:cNvSpPr/>
          <p:nvPr/>
        </p:nvSpPr>
        <p:spPr>
          <a:xfrm>
            <a:off x="6345936" y="4425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EA6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· 20 Sep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45936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345936" y="49560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weights fitted on real data. Reliability diagram and ECE published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942832" y="4261104"/>
            <a:ext cx="2615184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42832" y="4261104"/>
            <a:ext cx="2615184" cy="73152"/>
          </a:xfrm>
          <a:prstGeom prst="rect">
            <a:avLst/>
          </a:prstGeom>
          <a:solidFill>
            <a:srgbClr val="4B32A8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0" y="4425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4B3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· 24 Sep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14400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44000" y="49560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DAST, dependency scan, abuse-case suite, ingest fuzzing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88873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AF7F1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6016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dates are gates, not hopes.  </a:t>
            </a:r>
            <a:pPr indent="0" marL="0">
              <a:buNone/>
            </a:pPr>
            <a:r>
              <a:rPr lang="en-US" sz="1250" dirty="0">
                <a:solidFill>
                  <a:srgbClr val="1A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has a test that has to pass before the next begins, and the build log is append-only.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CAPABILITIES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builders. Contracts frozen before implementation.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1938528"/>
            <a:ext cx="475488" cy="475488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44" dirty="0"/>
          </a:p>
        </p:txBody>
      </p:sp>
      <p:sp>
        <p:nvSpPr>
          <p:cNvPr id="15" name="Text 13"/>
          <p:cNvSpPr/>
          <p:nvPr/>
        </p:nvSpPr>
        <p:spPr>
          <a:xfrm>
            <a:off x="786384" y="25237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mobile, ML integration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" y="3072384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foreground service, on-device INT8 inference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fusion + conflict gate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L0–L3 state machine with hysteresis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spec, the model manifest, the ADRs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61104" y="1737360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8848" y="1938528"/>
            <a:ext cx="475488" cy="475488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44" dirty="0"/>
          </a:p>
        </p:txBody>
      </p:sp>
      <p:sp>
        <p:nvSpPr>
          <p:cNvPr id="20" name="Text 18"/>
          <p:cNvSpPr/>
          <p:nvPr/>
        </p:nvSpPr>
        <p:spPr>
          <a:xfrm>
            <a:off x="4498848" y="25237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Backend, systems, security engineering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98848" y="3072384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WS, migrations day zero, rate limiting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evidence chain + integrity verifier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decay at read time — no scheduler to fail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harness · CI · demo orchestration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73568" y="1737360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1938528"/>
            <a:ext cx="475488" cy="475488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44" dirty="0"/>
          </a:p>
        </p:txBody>
      </p:sp>
      <p:sp>
        <p:nvSpPr>
          <p:cNvPr id="25" name="Text 23"/>
          <p:cNvSpPr/>
          <p:nvPr/>
        </p:nvSpPr>
        <p:spPr>
          <a:xfrm>
            <a:off x="8211312" y="25237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science, risk modelling, business case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11312" y="3072384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15,712 records → 764 hotspots → 709 geocoded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harness, ECE, false-alarm budget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the held-out backtest — including the failure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 figures, and which of them are estimates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18243A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57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three people ship this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5321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contracts so nobody blocks. Sequenced gates, not concurrent sprints. Every change through a pull request. Tests are the specification, so a regression is caught by a machine and not by whoever remembers.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51206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2A1418"/>
          </a:solidFill>
          <a:ln w="12700">
            <a:solidFill>
              <a:srgbClr val="2A3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257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8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gap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550468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men, and UI/UX is shared rather than owned. We are recruiting a fourth member — highest value if she brings design or security-sector background, which closes both lines at once. Fourteen exported screen specifications already exist as a handover artefact.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LEDGER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729216" y="347472"/>
            <a:ext cx="329184" cy="329184"/>
          </a:xfrm>
          <a:prstGeom prst="ellipse">
            <a:avLst/>
          </a:prstGeom>
          <a:solidFill>
            <a:srgbClr val="2F7AD6"/>
          </a:solidFill>
          <a:ln w="6350">
            <a:solidFill>
              <a:srgbClr val="2F7A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92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86416" y="347472"/>
            <a:ext cx="329184" cy="329184"/>
          </a:xfrm>
          <a:prstGeom prst="ellipse">
            <a:avLst/>
          </a:prstGeom>
          <a:solidFill>
            <a:srgbClr val="21B573"/>
          </a:solidFill>
          <a:ln w="6350">
            <a:solidFill>
              <a:srgbClr val="21B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64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43616" y="347472"/>
            <a:ext cx="329184" cy="329184"/>
          </a:xfrm>
          <a:prstGeom prst="ellipse">
            <a:avLst/>
          </a:prstGeom>
          <a:solidFill>
            <a:srgbClr val="EA6A25"/>
          </a:solidFill>
          <a:ln w="6350">
            <a:solidFill>
              <a:srgbClr val="EA6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436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00816" y="347472"/>
            <a:ext cx="329184" cy="329184"/>
          </a:xfrm>
          <a:prstGeom prst="ellipse">
            <a:avLst/>
          </a:prstGeom>
          <a:solidFill>
            <a:srgbClr val="4B32A8"/>
          </a:solidFill>
          <a:ln w="6350">
            <a:solidFill>
              <a:srgbClr val="4B3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0816" y="34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that embarrass us, and the claims we refuse.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FDF0F0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83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gaps — disclosed, not discovered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231136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forecast loses to a constant baseline: MAE 0.484 vs 0.246. Published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weights are hand-set, not fitted — the params file says so in machine-readable text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thresholds 0.55 / 0.65 cosine are targets. Uncalibrated, and labelled as targets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n = 10. A real p95 needs a real sample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evaluation on the face pipeline has not been run yet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F4F6F9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883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we refuse to make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231136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“Identifies criminals” — it produces leads; humans identify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“Court-admissible” — ours is structured to support a case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“Unbiased AI” — bias-aware, and the human gate is the answer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“Unhackable” — nothing is. Our claim is that intrusion is visible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“Prevents crime”, and any uncalibrated precision, ever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2569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publish the failures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73659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our own scripts opens by attacking its own project — “that is descriptive analytics, not prediction, no matter how it is presented” — and then gives the reader three ways to catch it lying. A parameter file carries a machine-readable warning against our own future overclaiming. A competitor can copy the practice. They cannot produce six weeks of it, dated before they knew they would need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797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pp  </a:t>
            </a:r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46704" y="5797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pp  </a:t>
            </a:r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Development Lifecycle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5797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pp  </a:t>
            </a:r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Gap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42832" y="5797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</a:t>
            </a:r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OPEN-GAPS.md, kept current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the numbers that embarrass us is the only reason to believe the ones that do not.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417320"/>
            <a:ext cx="3017520" cy="3017520"/>
          </a:xfrm>
          <a:prstGeom prst="ellipse">
            <a:avLst/>
          </a:prstGeom>
          <a:solidFill>
            <a:srgbClr val="E9A23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2057400"/>
            <a:ext cx="1737360" cy="1737360"/>
          </a:xfrm>
          <a:prstGeom prst="ellipse">
            <a:avLst/>
          </a:prstGeom>
          <a:solidFill>
            <a:srgbClr val="E9A23B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12680" y="2560320"/>
            <a:ext cx="731520" cy="7315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forgets you.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forgets what it did.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seven-day half-life, with nobody required to clear you. Most surveillance systems need a human to decide to release you. Ours decides on its own to stop watching.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 network in South Africa asks you to trust it. Ours can be verified.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VUKA  ·  You are not alone. You don’t have to ask.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Sonar · VIGIL · UMOJA · KHAYA · ANCHOR · Geekulcha Annual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VUKA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VUKA — Community safety you can verify</dc:title>
  <dc:subject>Geekulcha Annual Hackathon 2026 · Blockchain for Impact Use · Safety</dc:subject>
  <dc:creator>Team Sonar</dc:creator>
  <cp:lastModifiedBy>Team Sonar</cp:lastModifiedBy>
  <cp:revision>1</cp:revision>
  <dcterms:created xsi:type="dcterms:W3CDTF">2026-08-20T01:43:12Z</dcterms:created>
  <dcterms:modified xsi:type="dcterms:W3CDTF">2026-08-20T01:43:12Z</dcterms:modified>
</cp:coreProperties>
</file>